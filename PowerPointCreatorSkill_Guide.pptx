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34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AD7CC-5209-E0A4-B24F-9E51A19626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A3067C-E427-FEA5-B31D-7069E6CCDB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C4D52-A2DC-4D6C-3C7A-FD040044C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4BB03-94A8-44B3-B6B2-7ADF8A5E5EA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AE06B-92F1-452A-C2C5-EDCCBBC24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044CB-4391-5E00-FCC9-BFBE24F20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A56D1-60FD-4BF7-B35F-F0D91EDF8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401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8F8B9-9DAF-354F-0451-BD77F9883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0D3AE-CEDD-EF5E-9627-3439FC799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80A52-0244-3D29-41A4-95E3297C9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4BB03-94A8-44B3-B6B2-7ADF8A5E5EA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60889-B92F-B84A-8AE6-4A8253B4E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91D5B-0E23-0BAA-2DC0-83928AB72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A56D1-60FD-4BF7-B35F-F0D91EDF8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864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3B502-0C6C-E35C-0379-E08EC8DA5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B3C7FF-9C15-B43F-5607-72CDD39C8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49BE7-3101-06D6-A10B-25E23C739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4BB03-94A8-44B3-B6B2-7ADF8A5E5EA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EC13C-03F2-5728-55BF-9E7FF8E26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189BC-8261-3C28-0279-481A06D8F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A56D1-60FD-4BF7-B35F-F0D91EDF8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9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AD9AB-84D8-6011-E95E-6E8F3788C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A948B-AE0B-F42A-8B74-61482048CD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C79A24-E40A-2284-9F9D-EB97F712A3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AA0AB2-C16E-8C55-B656-C404047A9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4BB03-94A8-44B3-B6B2-7ADF8A5E5EA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3C17D0-C255-5082-218E-3F0307255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67418-BCA0-4BA4-3A91-CCBAC668C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A56D1-60FD-4BF7-B35F-F0D91EDF8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582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ECEA6-9F0B-AC80-DAC8-79CD49937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1AF0F6-4EF7-2CF3-BCF2-0004257EB2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6C934-A893-2ED7-FAFB-38E5B8C523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2B67C5-E4BF-E903-6ED7-C9DB881600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B99167-FA7D-32F0-73B4-89201E0D2F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06155F-74BA-CFF3-EC20-5AC6AE2FD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4BB03-94A8-44B3-B6B2-7ADF8A5E5EA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0CDCB9-A89C-3C77-31EB-D8038B4D3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F8ECAE-5406-6103-E96A-6D5D60479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A56D1-60FD-4BF7-B35F-F0D91EDF8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749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1F9B7-E42B-C876-2985-4ED768DE9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BF0239-6E2C-528A-338F-C4BA3ED11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4BB03-94A8-44B3-B6B2-7ADF8A5E5EA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1C30CA-EBB9-96FF-0928-05EF15121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7A99F6-E900-9466-0DD6-0A7533360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A56D1-60FD-4BF7-B35F-F0D91EDF8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49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D086C4-730D-3042-4194-30B0255B1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4BB03-94A8-44B3-B6B2-7ADF8A5E5EA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07A7B5-B092-EC3B-F98D-9ED5FA857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2A9918-047C-B94A-C75E-C1BDA07B8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A56D1-60FD-4BF7-B35F-F0D91EDF8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752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42E0F-BE32-5406-3CFF-620680F64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913D6-65DB-EEB2-AFF5-649383C0E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CFAB7B-DE7F-E800-BF14-5401A97457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F0E62-2705-5C56-A1F6-A885B90E6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4BB03-94A8-44B3-B6B2-7ADF8A5E5EA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4C4AB7-742A-C4A0-CDED-FB1A446FF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3053D5-5695-E559-57CD-CE68C91D5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A56D1-60FD-4BF7-B35F-F0D91EDF8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710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DCD84-DA2D-6665-ED18-0358F0444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DF46D9-9B78-1637-85BE-434A13162B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2E2D50-C304-A8CD-BD7D-1F9E1D093F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12A1CC-936B-B8AC-7AAE-28A929A2C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4BB03-94A8-44B3-B6B2-7ADF8A5E5EA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E000BE-70CB-AF08-63C5-8DFD42B49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29D81C-AA33-EE7B-D160-BD8AC821E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A56D1-60FD-4BF7-B35F-F0D91EDF8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666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ADDCA-95EB-0455-FE37-8F8B2E262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B90E36-5CD4-EAD3-EACC-6CE5D29EBB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73BB6-44B4-C399-795D-D918C9C9C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4BB03-94A8-44B3-B6B2-7ADF8A5E5EA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79DE7-FA15-D1E9-40D5-9AEE598D5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1FC93-0F66-45BE-B293-31468298F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A56D1-60FD-4BF7-B35F-F0D91EDF8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92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1AD677-6A47-A281-0EEC-545FB6EC77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82E4B-DC1C-E683-6B9C-EE8A1E219E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0BFAF-6596-36FD-1617-CF08A70AA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4BB03-94A8-44B3-B6B2-7ADF8A5E5EA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C65D6-643B-DADD-92CE-3F84CF12B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B44AC-420E-F430-B458-0FDD34917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A56D1-60FD-4BF7-B35F-F0D91EDF8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883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D8CA8D-1026-C9A6-365D-63DAB6125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3D59E2-0DE9-BDD7-6215-0F5180976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4BAE9-402E-7DDE-0DE7-962B30F9B4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E4BB03-94A8-44B3-B6B2-7ADF8A5E5EA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6AFA6-E87A-71FA-47C8-DBC726D98C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34A0D-D6E6-8A81-27F2-9460DCF719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9A56D1-60FD-4BF7-B35F-F0D91EDF8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445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6AC8B0-B6F7-4DBF-0703-F2FBF0C6B7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8BBB81-127A-A5C2-4913-B12485F8286A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58A6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4BEB7E-C5F1-3EAD-0EE2-E1941BA44956}"/>
              </a:ext>
            </a:extLst>
          </p:cNvPr>
          <p:cNvSpPr/>
          <p:nvPr/>
        </p:nvSpPr>
        <p:spPr>
          <a:xfrm>
            <a:off x="508000" y="609600"/>
            <a:ext cx="3302000" cy="406400"/>
          </a:xfrm>
          <a:prstGeom prst="rect">
            <a:avLst/>
          </a:prstGeom>
          <a:solidFill>
            <a:srgbClr val="161B22"/>
          </a:solidFill>
          <a:ln w="12700">
            <a:solidFill>
              <a:prstClr val="black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515AB7-9AA8-E8CF-98C4-6B31DE77DDD9}"/>
              </a:ext>
            </a:extLst>
          </p:cNvPr>
          <p:cNvSpPr txBox="1"/>
          <p:nvPr/>
        </p:nvSpPr>
        <p:spPr>
          <a:xfrm>
            <a:off x="635000" y="660400"/>
            <a:ext cx="304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58A6FF"/>
                </a:solidFill>
                <a:latin typeface="Segoe UI" panose="020B0502040204020203" pitchFamily="34" charset="0"/>
              </a:rPr>
              <a:t>GITHUB COPILOT / AGENT SKILLS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4A537D-3C7A-4E38-4AB8-75FBCB231654}"/>
              </a:ext>
            </a:extLst>
          </p:cNvPr>
          <p:cNvSpPr txBox="1"/>
          <p:nvPr/>
        </p:nvSpPr>
        <p:spPr>
          <a:xfrm>
            <a:off x="508000" y="1371600"/>
            <a:ext cx="8890000" cy="707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600" b="1">
                <a:solidFill>
                  <a:srgbClr val="E6EDF3"/>
                </a:solidFill>
                <a:latin typeface="Segoe UI" panose="020B0502040204020203" pitchFamily="34" charset="0"/>
              </a:rPr>
              <a:t>PowerPoint Creator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DF4EBA-6368-2116-7E14-D1E870111D98}"/>
              </a:ext>
            </a:extLst>
          </p:cNvPr>
          <p:cNvSpPr txBox="1"/>
          <p:nvPr/>
        </p:nvSpPr>
        <p:spPr>
          <a:xfrm>
            <a:off x="508000" y="2794000"/>
            <a:ext cx="8890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200" b="1">
                <a:solidFill>
                  <a:srgbClr val="58A6FF"/>
                </a:solidFill>
                <a:latin typeface="Segoe UI" panose="020B0502040204020203" pitchFamily="34" charset="0"/>
              </a:rPr>
              <a:t>Skill Setup and Usage Guide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4F51B8-8FD3-D7D0-8F5F-9A2654957B99}"/>
              </a:ext>
            </a:extLst>
          </p:cNvPr>
          <p:cNvSpPr txBox="1"/>
          <p:nvPr/>
        </p:nvSpPr>
        <p:spPr>
          <a:xfrm>
            <a:off x="508000" y="3810000"/>
            <a:ext cx="889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89929B"/>
                </a:solidFill>
                <a:latin typeface="Segoe UI" panose="020B0502040204020203" pitchFamily="34" charset="0"/>
              </a:rPr>
              <a:t>Generate professional decks from Copilot agent mode with no manual work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CCC213-C2B3-5D8C-2C14-F9C2B4568E63}"/>
              </a:ext>
            </a:extLst>
          </p:cNvPr>
          <p:cNvSpPr/>
          <p:nvPr/>
        </p:nvSpPr>
        <p:spPr>
          <a:xfrm>
            <a:off x="508000" y="5029200"/>
            <a:ext cx="7112000" cy="25400"/>
          </a:xfrm>
          <a:prstGeom prst="rect">
            <a:avLst/>
          </a:prstGeom>
          <a:solidFill>
            <a:srgbClr val="3036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134B46-63F6-1A48-93BF-C677E537CCA6}"/>
              </a:ext>
            </a:extLst>
          </p:cNvPr>
          <p:cNvSpPr txBox="1"/>
          <p:nvPr/>
        </p:nvSpPr>
        <p:spPr>
          <a:xfrm>
            <a:off x="508000" y="5181600"/>
            <a:ext cx="711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89929B"/>
                </a:solidFill>
                <a:latin typeface="Segoe UI" panose="020B0502040204020203" pitchFamily="34" charset="0"/>
              </a:rPr>
              <a:t>User-level skill | Available in every workspace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55F7FF-4DB9-9910-B6DE-CCEEB5595C2B}"/>
              </a:ext>
            </a:extLst>
          </p:cNvPr>
          <p:cNvSpPr/>
          <p:nvPr/>
        </p:nvSpPr>
        <p:spPr>
          <a:xfrm>
            <a:off x="9271000" y="1016000"/>
            <a:ext cx="2413000" cy="2413000"/>
          </a:xfrm>
          <a:prstGeom prst="rect">
            <a:avLst/>
          </a:prstGeom>
          <a:solidFill>
            <a:srgbClr val="161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0687D5-BB5F-7F67-72BB-41F5F52245BB}"/>
              </a:ext>
            </a:extLst>
          </p:cNvPr>
          <p:cNvSpPr/>
          <p:nvPr/>
        </p:nvSpPr>
        <p:spPr>
          <a:xfrm>
            <a:off x="9321800" y="1066800"/>
            <a:ext cx="2311400" cy="2311400"/>
          </a:xfrm>
          <a:prstGeom prst="rect">
            <a:avLst/>
          </a:prstGeom>
          <a:solidFill>
            <a:srgbClr val="0D111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A66CFB-A813-FC1E-E563-BC0B2072DA12}"/>
              </a:ext>
            </a:extLst>
          </p:cNvPr>
          <p:cNvSpPr txBox="1"/>
          <p:nvPr/>
        </p:nvSpPr>
        <p:spPr>
          <a:xfrm>
            <a:off x="9321800" y="1727200"/>
            <a:ext cx="2311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3400" b="1">
                <a:solidFill>
                  <a:srgbClr val="58A6FF"/>
                </a:solidFill>
                <a:latin typeface="Segoe UI" panose="020B0502040204020203" pitchFamily="34" charset="0"/>
              </a:rPr>
              <a:t>.pptx</a:t>
            </a:r>
          </a:p>
        </p:txBody>
      </p:sp>
    </p:spTree>
    <p:extLst>
      <p:ext uri="{BB962C8B-B14F-4D97-AF65-F5344CB8AC3E}">
        <p14:creationId xmlns:p14="http://schemas.microsoft.com/office/powerpoint/2010/main" val="2954522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67D498-2EC6-52A0-59BC-36BB960D57B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E43F56-D864-C58C-871E-8F6F11721741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58A6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598672-D1A9-C3D2-7998-093DF4196451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161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DC0646-775E-6C91-2096-482EB9D18B70}"/>
              </a:ext>
            </a:extLst>
          </p:cNvPr>
          <p:cNvSpPr/>
          <p:nvPr/>
        </p:nvSpPr>
        <p:spPr>
          <a:xfrm>
            <a:off x="0" y="990600"/>
            <a:ext cx="12192000" cy="25400"/>
          </a:xfrm>
          <a:prstGeom prst="rect">
            <a:avLst/>
          </a:prstGeom>
          <a:solidFill>
            <a:srgbClr val="3036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E0CDA8-712E-6402-0E32-1B77FA6E2C52}"/>
              </a:ext>
            </a:extLst>
          </p:cNvPr>
          <p:cNvSpPr txBox="1"/>
          <p:nvPr/>
        </p:nvSpPr>
        <p:spPr>
          <a:xfrm>
            <a:off x="457200" y="228600"/>
            <a:ext cx="11176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E6EDF3"/>
                </a:solidFill>
                <a:latin typeface="Segoe UI" panose="020B0502040204020203" pitchFamily="34" charset="0"/>
              </a:rPr>
              <a:t>What Is This Skill?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BA59C9-CC65-7EBF-545C-D148EA5CE601}"/>
              </a:ext>
            </a:extLst>
          </p:cNvPr>
          <p:cNvSpPr/>
          <p:nvPr/>
        </p:nvSpPr>
        <p:spPr>
          <a:xfrm>
            <a:off x="457200" y="1320800"/>
            <a:ext cx="11277600" cy="1651000"/>
          </a:xfrm>
          <a:prstGeom prst="rect">
            <a:avLst/>
          </a:prstGeom>
          <a:solidFill>
            <a:srgbClr val="161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0FF034-1449-D6E1-4FC4-F4B0C07D7E85}"/>
              </a:ext>
            </a:extLst>
          </p:cNvPr>
          <p:cNvSpPr/>
          <p:nvPr/>
        </p:nvSpPr>
        <p:spPr>
          <a:xfrm>
            <a:off x="457200" y="1320800"/>
            <a:ext cx="50800" cy="1651000"/>
          </a:xfrm>
          <a:prstGeom prst="rect">
            <a:avLst/>
          </a:prstGeom>
          <a:solidFill>
            <a:srgbClr val="58A6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834692-4C03-F3F1-4F57-B97D4345F38D}"/>
              </a:ext>
            </a:extLst>
          </p:cNvPr>
          <p:cNvSpPr txBox="1"/>
          <p:nvPr/>
        </p:nvSpPr>
        <p:spPr>
          <a:xfrm>
            <a:off x="711200" y="1473200"/>
            <a:ext cx="10668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58A6FF"/>
                </a:solidFill>
                <a:latin typeface="Segoe UI" panose="020B0502040204020203" pitchFamily="34" charset="0"/>
              </a:rPr>
              <a:t>About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4E3902-742F-0958-0BAC-14C94A40C4CC}"/>
              </a:ext>
            </a:extLst>
          </p:cNvPr>
          <p:cNvSpPr txBox="1"/>
          <p:nvPr/>
        </p:nvSpPr>
        <p:spPr>
          <a:xfrm>
            <a:off x="711200" y="1879600"/>
            <a:ext cx="10668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E6EDF3"/>
                </a:solidFill>
                <a:latin typeface="Segoe UI" panose="020B0502040204020203" pitchFamily="34" charset="0"/>
              </a:rPr>
              <a:t>The powerpoint-creator skill teaches GitHub Copilot agent mode to generate professional PowerPoint presentations (.pptx) on demand. It auto-selects the best generation method for your environment.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588D3C-B3F9-C976-B25B-3596CB519AFF}"/>
              </a:ext>
            </a:extLst>
          </p:cNvPr>
          <p:cNvSpPr/>
          <p:nvPr/>
        </p:nvSpPr>
        <p:spPr>
          <a:xfrm>
            <a:off x="457200" y="3175000"/>
            <a:ext cx="11277600" cy="762000"/>
          </a:xfrm>
          <a:prstGeom prst="rect">
            <a:avLst/>
          </a:prstGeom>
          <a:solidFill>
            <a:srgbClr val="161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042578-86E5-0714-ABF4-171322B6DBD9}"/>
              </a:ext>
            </a:extLst>
          </p:cNvPr>
          <p:cNvSpPr/>
          <p:nvPr/>
        </p:nvSpPr>
        <p:spPr>
          <a:xfrm>
            <a:off x="457200" y="3175000"/>
            <a:ext cx="50800" cy="762000"/>
          </a:xfrm>
          <a:prstGeom prst="rect">
            <a:avLst/>
          </a:prstGeom>
          <a:solidFill>
            <a:srgbClr val="3FB9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27A745-26D8-9F6E-9F52-828162F9FC9B}"/>
              </a:ext>
            </a:extLst>
          </p:cNvPr>
          <p:cNvSpPr txBox="1"/>
          <p:nvPr/>
        </p:nvSpPr>
        <p:spPr>
          <a:xfrm>
            <a:off x="711200" y="3302000"/>
            <a:ext cx="254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3FB950"/>
                </a:solidFill>
                <a:latin typeface="Segoe UI" panose="020B0502040204020203" pitchFamily="34" charset="0"/>
              </a:rPr>
              <a:t>Skill Location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D45C4D-426C-8B4E-2DB3-F090074FD706}"/>
              </a:ext>
            </a:extLst>
          </p:cNvPr>
          <p:cNvSpPr txBox="1"/>
          <p:nvPr/>
        </p:nvSpPr>
        <p:spPr>
          <a:xfrm>
            <a:off x="2540000" y="3352800"/>
            <a:ext cx="8636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E6EDF3"/>
                </a:solidFill>
                <a:latin typeface="Segoe UI" panose="020B0502040204020203" pitchFamily="34" charset="0"/>
              </a:rPr>
              <a:t>C:\Users\&lt;you&gt;\.agents\skills\powerpoint-creator\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5BD3B1-0A29-B670-792A-0898DEA0A1C2}"/>
              </a:ext>
            </a:extLst>
          </p:cNvPr>
          <p:cNvSpPr/>
          <p:nvPr/>
        </p:nvSpPr>
        <p:spPr>
          <a:xfrm>
            <a:off x="457200" y="4165600"/>
            <a:ext cx="3530600" cy="2159000"/>
          </a:xfrm>
          <a:prstGeom prst="rect">
            <a:avLst/>
          </a:prstGeom>
          <a:solidFill>
            <a:srgbClr val="161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7FB734-C9B3-E71B-3D51-526892538C3A}"/>
              </a:ext>
            </a:extLst>
          </p:cNvPr>
          <p:cNvSpPr/>
          <p:nvPr/>
        </p:nvSpPr>
        <p:spPr>
          <a:xfrm>
            <a:off x="457200" y="4165600"/>
            <a:ext cx="3530600" cy="50800"/>
          </a:xfrm>
          <a:prstGeom prst="rect">
            <a:avLst/>
          </a:prstGeom>
          <a:solidFill>
            <a:srgbClr val="58A6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D94BF4-2D49-A4B9-1D8D-A13788957D0F}"/>
              </a:ext>
            </a:extLst>
          </p:cNvPr>
          <p:cNvSpPr txBox="1"/>
          <p:nvPr/>
        </p:nvSpPr>
        <p:spPr>
          <a:xfrm>
            <a:off x="660400" y="4394200"/>
            <a:ext cx="31242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58A6FF"/>
                </a:solidFill>
                <a:latin typeface="Segoe UI" panose="020B0502040204020203" pitchFamily="34" charset="0"/>
              </a:rPr>
              <a:t>Modern Layouts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1A8BF7-C4C4-DC07-17B6-706638B97ECB}"/>
              </a:ext>
            </a:extLst>
          </p:cNvPr>
          <p:cNvSpPr txBox="1"/>
          <p:nvPr/>
        </p:nvSpPr>
        <p:spPr>
          <a:xfrm>
            <a:off x="660400" y="4851400"/>
            <a:ext cx="31242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89929B"/>
                </a:solidFill>
                <a:latin typeface="Segoe UI" panose="020B0502040204020203" pitchFamily="34" charset="0"/>
              </a:rPr>
              <a:t>Consistent spacing,
typography and themes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61A600A-64AB-CFD8-A7CF-04D4D7C15A54}"/>
              </a:ext>
            </a:extLst>
          </p:cNvPr>
          <p:cNvSpPr/>
          <p:nvPr/>
        </p:nvSpPr>
        <p:spPr>
          <a:xfrm>
            <a:off x="4191000" y="4165600"/>
            <a:ext cx="3530600" cy="2159000"/>
          </a:xfrm>
          <a:prstGeom prst="rect">
            <a:avLst/>
          </a:prstGeom>
          <a:solidFill>
            <a:srgbClr val="161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080C29-85FB-4802-1C18-4FFE7D21BE14}"/>
              </a:ext>
            </a:extLst>
          </p:cNvPr>
          <p:cNvSpPr/>
          <p:nvPr/>
        </p:nvSpPr>
        <p:spPr>
          <a:xfrm>
            <a:off x="4191000" y="4165600"/>
            <a:ext cx="3530600" cy="50800"/>
          </a:xfrm>
          <a:prstGeom prst="rect">
            <a:avLst/>
          </a:prstGeom>
          <a:solidFill>
            <a:srgbClr val="58A6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94BA30-7D13-4F44-299F-3ABC0548753A}"/>
              </a:ext>
            </a:extLst>
          </p:cNvPr>
          <p:cNvSpPr txBox="1"/>
          <p:nvPr/>
        </p:nvSpPr>
        <p:spPr>
          <a:xfrm>
            <a:off x="4394200" y="4394200"/>
            <a:ext cx="31242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58A6FF"/>
                </a:solidFill>
                <a:latin typeface="Segoe UI" panose="020B0502040204020203" pitchFamily="34" charset="0"/>
              </a:rPr>
              <a:t>All Slide Types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EE045F-5BBA-A309-57CB-E5AEB94A211A}"/>
              </a:ext>
            </a:extLst>
          </p:cNvPr>
          <p:cNvSpPr txBox="1"/>
          <p:nvPr/>
        </p:nvSpPr>
        <p:spPr>
          <a:xfrm>
            <a:off x="4394200" y="4851400"/>
            <a:ext cx="31242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89929B"/>
                </a:solidFill>
                <a:latin typeface="Segoe UI" panose="020B0502040204020203" pitchFamily="34" charset="0"/>
              </a:rPr>
              <a:t>Title, bullets, charts,
tables, two-column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4312FE-26DD-B9C1-E85C-25DDA7A81C97}"/>
              </a:ext>
            </a:extLst>
          </p:cNvPr>
          <p:cNvSpPr/>
          <p:nvPr/>
        </p:nvSpPr>
        <p:spPr>
          <a:xfrm>
            <a:off x="7924800" y="4165600"/>
            <a:ext cx="3530600" cy="2159000"/>
          </a:xfrm>
          <a:prstGeom prst="rect">
            <a:avLst/>
          </a:prstGeom>
          <a:solidFill>
            <a:srgbClr val="161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72FF1A3-678E-45D4-D4B9-97D3A0FCB91D}"/>
              </a:ext>
            </a:extLst>
          </p:cNvPr>
          <p:cNvSpPr/>
          <p:nvPr/>
        </p:nvSpPr>
        <p:spPr>
          <a:xfrm>
            <a:off x="7924800" y="4165600"/>
            <a:ext cx="3530600" cy="50800"/>
          </a:xfrm>
          <a:prstGeom prst="rect">
            <a:avLst/>
          </a:prstGeom>
          <a:solidFill>
            <a:srgbClr val="58A6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74513B-C339-2A91-6756-494CE78C6B00}"/>
              </a:ext>
            </a:extLst>
          </p:cNvPr>
          <p:cNvSpPr txBox="1"/>
          <p:nvPr/>
        </p:nvSpPr>
        <p:spPr>
          <a:xfrm>
            <a:off x="8128000" y="4394200"/>
            <a:ext cx="31242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58A6FF"/>
                </a:solidFill>
                <a:latin typeface="Segoe UI" panose="020B0502040204020203" pitchFamily="34" charset="0"/>
              </a:rPr>
              <a:t>Zero Dependencies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026B7A-0EB2-1620-CEC3-FF57DBC3468C}"/>
              </a:ext>
            </a:extLst>
          </p:cNvPr>
          <p:cNvSpPr txBox="1"/>
          <p:nvPr/>
        </p:nvSpPr>
        <p:spPr>
          <a:xfrm>
            <a:off x="8128000" y="4851400"/>
            <a:ext cx="31242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89929B"/>
                </a:solidFill>
                <a:latin typeface="Segoe UI" panose="020B0502040204020203" pitchFamily="34" charset="0"/>
              </a:rPr>
              <a:t>Works via PowerShell COM
when pip is blocked</a:t>
            </a:r>
          </a:p>
        </p:txBody>
      </p:sp>
    </p:spTree>
    <p:extLst>
      <p:ext uri="{BB962C8B-B14F-4D97-AF65-F5344CB8AC3E}">
        <p14:creationId xmlns:p14="http://schemas.microsoft.com/office/powerpoint/2010/main" val="498518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A4505E-D5FF-EB29-5FE1-54A5226F057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1EAF39-9DD1-6265-97A8-0C7515DBDA2C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3FB9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821490-7460-0C1E-4B8F-C8A77F34AE46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161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6E000A-93C2-4287-C245-69B1D1B06A4F}"/>
              </a:ext>
            </a:extLst>
          </p:cNvPr>
          <p:cNvSpPr/>
          <p:nvPr/>
        </p:nvSpPr>
        <p:spPr>
          <a:xfrm>
            <a:off x="0" y="990600"/>
            <a:ext cx="12192000" cy="25400"/>
          </a:xfrm>
          <a:prstGeom prst="rect">
            <a:avLst/>
          </a:prstGeom>
          <a:solidFill>
            <a:srgbClr val="3036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ADDAB2-47EC-3257-B85B-88792E0DE5D7}"/>
              </a:ext>
            </a:extLst>
          </p:cNvPr>
          <p:cNvSpPr txBox="1"/>
          <p:nvPr/>
        </p:nvSpPr>
        <p:spPr>
          <a:xfrm>
            <a:off x="457200" y="228600"/>
            <a:ext cx="11176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E6EDF3"/>
                </a:solidFill>
                <a:latin typeface="Segoe UI" panose="020B0502040204020203" pitchFamily="34" charset="0"/>
              </a:rPr>
              <a:t>Requirements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4134E4-5BF6-1FC6-8D09-1E85AFD29ACE}"/>
              </a:ext>
            </a:extLst>
          </p:cNvPr>
          <p:cNvSpPr/>
          <p:nvPr/>
        </p:nvSpPr>
        <p:spPr>
          <a:xfrm>
            <a:off x="457200" y="1320800"/>
            <a:ext cx="5461000" cy="533400"/>
          </a:xfrm>
          <a:prstGeom prst="rect">
            <a:avLst/>
          </a:prstGeom>
          <a:solidFill>
            <a:srgbClr val="161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514251-4C7E-71AA-BAE2-52189534D8E2}"/>
              </a:ext>
            </a:extLst>
          </p:cNvPr>
          <p:cNvSpPr/>
          <p:nvPr/>
        </p:nvSpPr>
        <p:spPr>
          <a:xfrm>
            <a:off x="457200" y="1320800"/>
            <a:ext cx="5461000" cy="50800"/>
          </a:xfrm>
          <a:prstGeom prst="rect">
            <a:avLst/>
          </a:prstGeom>
          <a:solidFill>
            <a:srgbClr val="58A6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EC7893-4CD7-7413-8E16-E6CB4C0E4004}"/>
              </a:ext>
            </a:extLst>
          </p:cNvPr>
          <p:cNvSpPr txBox="1"/>
          <p:nvPr/>
        </p:nvSpPr>
        <p:spPr>
          <a:xfrm>
            <a:off x="660400" y="1422400"/>
            <a:ext cx="508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58A6FF"/>
                </a:solidFill>
                <a:latin typeface="Segoe UI" panose="020B0502040204020203" pitchFamily="34" charset="0"/>
              </a:rPr>
              <a:t>Option A - Python + python-pptx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93AE27-7B3C-CE7A-7DEE-1C901F12B6D8}"/>
              </a:ext>
            </a:extLst>
          </p:cNvPr>
          <p:cNvSpPr/>
          <p:nvPr/>
        </p:nvSpPr>
        <p:spPr>
          <a:xfrm>
            <a:off x="457200" y="1905000"/>
            <a:ext cx="5461000" cy="3454400"/>
          </a:xfrm>
          <a:prstGeom prst="rect">
            <a:avLst/>
          </a:prstGeom>
          <a:solidFill>
            <a:srgbClr val="161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58E333-09E0-D9DC-673B-EB7874E8C7C0}"/>
              </a:ext>
            </a:extLst>
          </p:cNvPr>
          <p:cNvSpPr/>
          <p:nvPr/>
        </p:nvSpPr>
        <p:spPr>
          <a:xfrm>
            <a:off x="457200" y="1905000"/>
            <a:ext cx="50800" cy="3454400"/>
          </a:xfrm>
          <a:prstGeom prst="rect">
            <a:avLst/>
          </a:prstGeom>
          <a:solidFill>
            <a:srgbClr val="58A6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C231B4-61CF-AB89-B737-3C135E35C13D}"/>
              </a:ext>
            </a:extLst>
          </p:cNvPr>
          <p:cNvSpPr txBox="1"/>
          <p:nvPr/>
        </p:nvSpPr>
        <p:spPr>
          <a:xfrm>
            <a:off x="711200" y="2057400"/>
            <a:ext cx="5080000" cy="213904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300">
                <a:solidFill>
                  <a:srgbClr val="E6EDF3"/>
                </a:solidFill>
                <a:latin typeface="Segoe UI" panose="020B0502040204020203" pitchFamily="34" charset="0"/>
              </a:rPr>
              <a:t>Python 3.8+</a:t>
            </a:r>
          </a:p>
          <a:p>
            <a:pPr>
              <a:spcBef>
                <a:spcPts val="600"/>
              </a:spcBef>
            </a:pPr>
            <a:r>
              <a:rPr lang="en-US" sz="1300">
                <a:solidFill>
                  <a:srgbClr val="E6EDF3"/>
                </a:solidFill>
                <a:latin typeface="Segoe UI" panose="020B0502040204020203" pitchFamily="34" charset="0"/>
              </a:rPr>
              <a:t>python-pptx 1.0.0+</a:t>
            </a:r>
          </a:p>
          <a:p>
            <a:pPr>
              <a:spcBef>
                <a:spcPts val="600"/>
              </a:spcBef>
            </a:pPr>
            <a:endParaRPr lang="en-US" sz="1300">
              <a:solidFill>
                <a:srgbClr val="E6EDF3"/>
              </a:solidFill>
              <a:latin typeface="Segoe UI" panose="020B0502040204020203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1300">
                <a:solidFill>
                  <a:srgbClr val="E6EDF3"/>
                </a:solidFill>
                <a:latin typeface="Segoe UI" panose="020B0502040204020203" pitchFamily="34" charset="0"/>
              </a:rPr>
              <a:t>pip install python-pptx</a:t>
            </a:r>
          </a:p>
          <a:p>
            <a:pPr>
              <a:spcBef>
                <a:spcPts val="600"/>
              </a:spcBef>
            </a:pPr>
            <a:endParaRPr lang="en-US" sz="1300">
              <a:solidFill>
                <a:srgbClr val="E6EDF3"/>
              </a:solidFill>
              <a:latin typeface="Segoe UI" panose="020B0502040204020203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1300">
                <a:solidFill>
                  <a:srgbClr val="E6EDF3"/>
                </a:solidFill>
                <a:latin typeface="Segoe UI" panose="020B0502040204020203" pitchFamily="34" charset="0"/>
              </a:rPr>
              <a:t>For corporate proxy issues, add:</a:t>
            </a:r>
          </a:p>
          <a:p>
            <a:pPr>
              <a:spcBef>
                <a:spcPts val="600"/>
              </a:spcBef>
            </a:pPr>
            <a:r>
              <a:rPr lang="en-US" sz="1300">
                <a:solidFill>
                  <a:srgbClr val="E6EDF3"/>
                </a:solidFill>
                <a:latin typeface="Segoe UI" panose="020B0502040204020203" pitchFamily="34" charset="0"/>
              </a:rPr>
              <a:t>--trusted-host pypi.org</a:t>
            </a:r>
          </a:p>
          <a:p>
            <a:pPr>
              <a:spcBef>
                <a:spcPts val="600"/>
              </a:spcBef>
            </a:pPr>
            <a:r>
              <a:rPr lang="en-US" sz="1300">
                <a:solidFill>
                  <a:srgbClr val="E6EDF3"/>
                </a:solidFill>
                <a:latin typeface="Segoe UI" panose="020B0502040204020203" pitchFamily="34" charset="0"/>
              </a:rPr>
              <a:t>--trusted-host files.pythonhosted.org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156AFE-79ED-F8A8-C285-BA3937D5FFC0}"/>
              </a:ext>
            </a:extLst>
          </p:cNvPr>
          <p:cNvSpPr/>
          <p:nvPr/>
        </p:nvSpPr>
        <p:spPr>
          <a:xfrm>
            <a:off x="6273800" y="1320800"/>
            <a:ext cx="5461000" cy="533400"/>
          </a:xfrm>
          <a:prstGeom prst="rect">
            <a:avLst/>
          </a:prstGeom>
          <a:solidFill>
            <a:srgbClr val="161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D2803B-1366-341B-FDCE-C2ED594ADDC0}"/>
              </a:ext>
            </a:extLst>
          </p:cNvPr>
          <p:cNvSpPr/>
          <p:nvPr/>
        </p:nvSpPr>
        <p:spPr>
          <a:xfrm>
            <a:off x="6273800" y="1320800"/>
            <a:ext cx="5461000" cy="50800"/>
          </a:xfrm>
          <a:prstGeom prst="rect">
            <a:avLst/>
          </a:prstGeom>
          <a:solidFill>
            <a:srgbClr val="3FB9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25531C-7668-8076-B3A4-F7D7003F52DA}"/>
              </a:ext>
            </a:extLst>
          </p:cNvPr>
          <p:cNvSpPr txBox="1"/>
          <p:nvPr/>
        </p:nvSpPr>
        <p:spPr>
          <a:xfrm>
            <a:off x="6477000" y="1422400"/>
            <a:ext cx="508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3FB950"/>
                </a:solidFill>
                <a:latin typeface="Segoe UI" panose="020B0502040204020203" pitchFamily="34" charset="0"/>
              </a:rPr>
              <a:t>Option B - PowerShell COM (Recommended)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336385-90F5-F6E6-7E95-7154009808FC}"/>
              </a:ext>
            </a:extLst>
          </p:cNvPr>
          <p:cNvSpPr/>
          <p:nvPr/>
        </p:nvSpPr>
        <p:spPr>
          <a:xfrm>
            <a:off x="6273800" y="1905000"/>
            <a:ext cx="5461000" cy="3454400"/>
          </a:xfrm>
          <a:prstGeom prst="rect">
            <a:avLst/>
          </a:prstGeom>
          <a:solidFill>
            <a:srgbClr val="161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22ACD9-8957-2ECF-C411-3D46D638CA11}"/>
              </a:ext>
            </a:extLst>
          </p:cNvPr>
          <p:cNvSpPr/>
          <p:nvPr/>
        </p:nvSpPr>
        <p:spPr>
          <a:xfrm>
            <a:off x="6273800" y="1905000"/>
            <a:ext cx="50800" cy="3454400"/>
          </a:xfrm>
          <a:prstGeom prst="rect">
            <a:avLst/>
          </a:prstGeom>
          <a:solidFill>
            <a:srgbClr val="3FB9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622DAB-2019-43DD-80F7-C0056C66C49C}"/>
              </a:ext>
            </a:extLst>
          </p:cNvPr>
          <p:cNvSpPr txBox="1"/>
          <p:nvPr/>
        </p:nvSpPr>
        <p:spPr>
          <a:xfrm>
            <a:off x="6527800" y="2057400"/>
            <a:ext cx="5080000" cy="18620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300">
                <a:solidFill>
                  <a:srgbClr val="E6EDF3"/>
                </a:solidFill>
                <a:latin typeface="Segoe UI" panose="020B0502040204020203" pitchFamily="34" charset="0"/>
              </a:rPr>
              <a:t>Windows 10 or 11</a:t>
            </a:r>
          </a:p>
          <a:p>
            <a:pPr>
              <a:spcBef>
                <a:spcPts val="600"/>
              </a:spcBef>
            </a:pPr>
            <a:r>
              <a:rPr lang="en-US" sz="1300">
                <a:solidFill>
                  <a:srgbClr val="E6EDF3"/>
                </a:solidFill>
                <a:latin typeface="Segoe UI" panose="020B0502040204020203" pitchFamily="34" charset="0"/>
              </a:rPr>
              <a:t>Microsoft Office / PowerPoint installed</a:t>
            </a:r>
          </a:p>
          <a:p>
            <a:pPr>
              <a:spcBef>
                <a:spcPts val="600"/>
              </a:spcBef>
            </a:pPr>
            <a:r>
              <a:rPr lang="en-US" sz="1300">
                <a:solidFill>
                  <a:srgbClr val="E6EDF3"/>
                </a:solidFill>
                <a:latin typeface="Segoe UI" panose="020B0502040204020203" pitchFamily="34" charset="0"/>
              </a:rPr>
              <a:t>PowerShell 5.1+ (built into Windows)</a:t>
            </a:r>
          </a:p>
          <a:p>
            <a:pPr>
              <a:spcBef>
                <a:spcPts val="600"/>
              </a:spcBef>
            </a:pPr>
            <a:endParaRPr lang="en-US" sz="1300">
              <a:solidFill>
                <a:srgbClr val="E6EDF3"/>
              </a:solidFill>
              <a:latin typeface="Segoe UI" panose="020B0502040204020203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1300">
                <a:solidFill>
                  <a:srgbClr val="E6EDF3"/>
                </a:solidFill>
                <a:latin typeface="Segoe UI" panose="020B0502040204020203" pitchFamily="34" charset="0"/>
              </a:rPr>
              <a:t>No pip install needed</a:t>
            </a:r>
          </a:p>
          <a:p>
            <a:pPr>
              <a:spcBef>
                <a:spcPts val="600"/>
              </a:spcBef>
            </a:pPr>
            <a:r>
              <a:rPr lang="en-US" sz="1300">
                <a:solidFill>
                  <a:srgbClr val="E6EDF3"/>
                </a:solidFill>
                <a:latin typeface="Segoe UI" panose="020B0502040204020203" pitchFamily="34" charset="0"/>
              </a:rPr>
              <a:t>No proxy or SSL issues</a:t>
            </a:r>
          </a:p>
          <a:p>
            <a:pPr>
              <a:spcBef>
                <a:spcPts val="600"/>
              </a:spcBef>
            </a:pPr>
            <a:r>
              <a:rPr lang="en-US" sz="1300">
                <a:solidFill>
                  <a:srgbClr val="E6EDF3"/>
                </a:solidFill>
                <a:latin typeface="Segoe UI" panose="020B0502040204020203" pitchFamily="34" charset="0"/>
              </a:rPr>
              <a:t>Works in locked-down corporate environments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D70F49-0459-E491-6049-EACED716DBF4}"/>
              </a:ext>
            </a:extLst>
          </p:cNvPr>
          <p:cNvSpPr/>
          <p:nvPr/>
        </p:nvSpPr>
        <p:spPr>
          <a:xfrm>
            <a:off x="457200" y="5511800"/>
            <a:ext cx="11277600" cy="762000"/>
          </a:xfrm>
          <a:prstGeom prst="rect">
            <a:avLst/>
          </a:prstGeom>
          <a:solidFill>
            <a:srgbClr val="161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424E996-0B79-C911-C25B-FD58C9A1BEF7}"/>
              </a:ext>
            </a:extLst>
          </p:cNvPr>
          <p:cNvSpPr/>
          <p:nvPr/>
        </p:nvSpPr>
        <p:spPr>
          <a:xfrm>
            <a:off x="457200" y="5511800"/>
            <a:ext cx="50800" cy="762000"/>
          </a:xfrm>
          <a:prstGeom prst="rect">
            <a:avLst/>
          </a:prstGeom>
          <a:solidFill>
            <a:srgbClr val="3FB9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121B9E-227C-1EF5-7487-F2D4A9E88AB1}"/>
              </a:ext>
            </a:extLst>
          </p:cNvPr>
          <p:cNvSpPr txBox="1"/>
          <p:nvPr/>
        </p:nvSpPr>
        <p:spPr>
          <a:xfrm>
            <a:off x="711200" y="5676900"/>
            <a:ext cx="10668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89929B"/>
                </a:solidFill>
                <a:latin typeface="Segoe UI" panose="020B0502040204020203" pitchFamily="34" charset="0"/>
              </a:rPr>
              <a:t>Recommended for Progressive: Option B requires no network access and no package installation.</a:t>
            </a:r>
          </a:p>
        </p:txBody>
      </p:sp>
    </p:spTree>
    <p:extLst>
      <p:ext uri="{BB962C8B-B14F-4D97-AF65-F5344CB8AC3E}">
        <p14:creationId xmlns:p14="http://schemas.microsoft.com/office/powerpoint/2010/main" val="1926695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3D80EE-9C92-0E5D-ADBB-C0756EBB4F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A1242E-F402-EC43-53B7-83ED2C293B72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58A6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F868E8-4430-5280-3601-D284066664C1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161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F6ED53-0401-94B7-E876-FF08191D4D5F}"/>
              </a:ext>
            </a:extLst>
          </p:cNvPr>
          <p:cNvSpPr/>
          <p:nvPr/>
        </p:nvSpPr>
        <p:spPr>
          <a:xfrm>
            <a:off x="0" y="990600"/>
            <a:ext cx="12192000" cy="25400"/>
          </a:xfrm>
          <a:prstGeom prst="rect">
            <a:avLst/>
          </a:prstGeom>
          <a:solidFill>
            <a:srgbClr val="3036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186769-B49B-CF6B-C0D2-D5C5ECFFFF72}"/>
              </a:ext>
            </a:extLst>
          </p:cNvPr>
          <p:cNvSpPr txBox="1"/>
          <p:nvPr/>
        </p:nvSpPr>
        <p:spPr>
          <a:xfrm>
            <a:off x="457200" y="228600"/>
            <a:ext cx="11176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E6EDF3"/>
                </a:solidFill>
                <a:latin typeface="Segoe UI" panose="020B0502040204020203" pitchFamily="34" charset="0"/>
              </a:rPr>
              <a:t>How to Use the Skill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5560BE-3196-A6B5-B764-15FE89AF4AC0}"/>
              </a:ext>
            </a:extLst>
          </p:cNvPr>
          <p:cNvSpPr/>
          <p:nvPr/>
        </p:nvSpPr>
        <p:spPr>
          <a:xfrm>
            <a:off x="457200" y="1270000"/>
            <a:ext cx="11277600" cy="1498600"/>
          </a:xfrm>
          <a:prstGeom prst="rect">
            <a:avLst/>
          </a:prstGeom>
          <a:solidFill>
            <a:srgbClr val="161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592DEC-C374-A4FF-B74D-75405E735CCF}"/>
              </a:ext>
            </a:extLst>
          </p:cNvPr>
          <p:cNvSpPr/>
          <p:nvPr/>
        </p:nvSpPr>
        <p:spPr>
          <a:xfrm>
            <a:off x="457200" y="1270000"/>
            <a:ext cx="50800" cy="1498600"/>
          </a:xfrm>
          <a:prstGeom prst="rect">
            <a:avLst/>
          </a:prstGeom>
          <a:solidFill>
            <a:srgbClr val="58A6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2AE5A4-F22C-4C0E-986A-6BE1D1F6B21F}"/>
              </a:ext>
            </a:extLst>
          </p:cNvPr>
          <p:cNvSpPr txBox="1"/>
          <p:nvPr/>
        </p:nvSpPr>
        <p:spPr>
          <a:xfrm>
            <a:off x="584200" y="1473200"/>
            <a:ext cx="762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3400" b="1">
                <a:solidFill>
                  <a:srgbClr val="58A6FF"/>
                </a:solidFill>
                <a:latin typeface="Segoe UI" panose="020B0502040204020203" pitchFamily="34" charset="0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702207-33EB-F2E7-7A52-4354E9E507DD}"/>
              </a:ext>
            </a:extLst>
          </p:cNvPr>
          <p:cNvSpPr txBox="1"/>
          <p:nvPr/>
        </p:nvSpPr>
        <p:spPr>
          <a:xfrm>
            <a:off x="1473200" y="1447800"/>
            <a:ext cx="279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58A6FF"/>
                </a:solidFill>
                <a:latin typeface="Segoe UI" panose="020B0502040204020203" pitchFamily="34" charset="0"/>
              </a:rPr>
              <a:t>Open Copilot in Agent Mode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04EBF8-56E0-B2AA-2818-408EB081F067}"/>
              </a:ext>
            </a:extLst>
          </p:cNvPr>
          <p:cNvSpPr txBox="1"/>
          <p:nvPr/>
        </p:nvSpPr>
        <p:spPr>
          <a:xfrm>
            <a:off x="1473200" y="1854200"/>
            <a:ext cx="9499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89929B"/>
                </a:solidFill>
                <a:latin typeface="Segoe UI" panose="020B0502040204020203" pitchFamily="34" charset="0"/>
              </a:rPr>
              <a:t>In VS Code, open the Copilot Chat panel and switch to agent mode using the dropdown next to the chat input box.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55F351-8FAD-F169-2145-39B2D56CE291}"/>
              </a:ext>
            </a:extLst>
          </p:cNvPr>
          <p:cNvSpPr/>
          <p:nvPr/>
        </p:nvSpPr>
        <p:spPr>
          <a:xfrm>
            <a:off x="457200" y="2895600"/>
            <a:ext cx="11277600" cy="1498600"/>
          </a:xfrm>
          <a:prstGeom prst="rect">
            <a:avLst/>
          </a:prstGeom>
          <a:solidFill>
            <a:srgbClr val="161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351DFB-CB38-167C-4B83-D5D5FECC61C3}"/>
              </a:ext>
            </a:extLst>
          </p:cNvPr>
          <p:cNvSpPr/>
          <p:nvPr/>
        </p:nvSpPr>
        <p:spPr>
          <a:xfrm>
            <a:off x="457200" y="2895600"/>
            <a:ext cx="50800" cy="1498600"/>
          </a:xfrm>
          <a:prstGeom prst="rect">
            <a:avLst/>
          </a:prstGeom>
          <a:solidFill>
            <a:srgbClr val="3FB9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8A72AD-8052-4DAB-59EC-06B1013277AD}"/>
              </a:ext>
            </a:extLst>
          </p:cNvPr>
          <p:cNvSpPr txBox="1"/>
          <p:nvPr/>
        </p:nvSpPr>
        <p:spPr>
          <a:xfrm>
            <a:off x="584200" y="3098800"/>
            <a:ext cx="762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3400" b="1">
                <a:solidFill>
                  <a:srgbClr val="3FB950"/>
                </a:solidFill>
                <a:latin typeface="Segoe UI" panose="020B0502040204020203" pitchFamily="34" charset="0"/>
              </a:rPr>
              <a:t>02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26409C-7B8B-9842-64A6-4BA82207C084}"/>
              </a:ext>
            </a:extLst>
          </p:cNvPr>
          <p:cNvSpPr txBox="1"/>
          <p:nvPr/>
        </p:nvSpPr>
        <p:spPr>
          <a:xfrm>
            <a:off x="1473200" y="3073400"/>
            <a:ext cx="279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3FB950"/>
                </a:solidFill>
                <a:latin typeface="Segoe UI" panose="020B0502040204020203" pitchFamily="34" charset="0"/>
              </a:rPr>
              <a:t>Ask for a Presentation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16BFA4-5B5E-41A2-5885-B7A17B830505}"/>
              </a:ext>
            </a:extLst>
          </p:cNvPr>
          <p:cNvSpPr txBox="1"/>
          <p:nvPr/>
        </p:nvSpPr>
        <p:spPr>
          <a:xfrm>
            <a:off x="1473200" y="3479800"/>
            <a:ext cx="9499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89929B"/>
                </a:solidFill>
                <a:latin typeface="Segoe UI" panose="020B0502040204020203" pitchFamily="34" charset="0"/>
              </a:rPr>
              <a:t>Describe your presentation topic, audience, and slide count. Example: 'Create a 10-slide executive summary based on the README in this project using the Midnight Dark theme.'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E786C0-9EB9-46B7-BCAA-C866E2E88402}"/>
              </a:ext>
            </a:extLst>
          </p:cNvPr>
          <p:cNvSpPr/>
          <p:nvPr/>
        </p:nvSpPr>
        <p:spPr>
          <a:xfrm>
            <a:off x="457200" y="4521200"/>
            <a:ext cx="11277600" cy="1498600"/>
          </a:xfrm>
          <a:prstGeom prst="rect">
            <a:avLst/>
          </a:prstGeom>
          <a:solidFill>
            <a:srgbClr val="161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97A5EB-F473-D37B-0516-AE2121D4EAEB}"/>
              </a:ext>
            </a:extLst>
          </p:cNvPr>
          <p:cNvSpPr/>
          <p:nvPr/>
        </p:nvSpPr>
        <p:spPr>
          <a:xfrm>
            <a:off x="457200" y="4521200"/>
            <a:ext cx="50800" cy="1498600"/>
          </a:xfrm>
          <a:prstGeom prst="rect">
            <a:avLst/>
          </a:prstGeom>
          <a:solidFill>
            <a:srgbClr val="58A6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7AD7D3-FF48-2A6E-50E4-01ABD03C2E98}"/>
              </a:ext>
            </a:extLst>
          </p:cNvPr>
          <p:cNvSpPr txBox="1"/>
          <p:nvPr/>
        </p:nvSpPr>
        <p:spPr>
          <a:xfrm>
            <a:off x="584200" y="4724400"/>
            <a:ext cx="762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3400" b="1">
                <a:solidFill>
                  <a:srgbClr val="58A6FF"/>
                </a:solidFill>
                <a:latin typeface="Segoe UI" panose="020B0502040204020203" pitchFamily="34" charset="0"/>
              </a:rPr>
              <a:t>03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F9F3CD-A41A-B2B4-177E-7E1B1A1D99F7}"/>
              </a:ext>
            </a:extLst>
          </p:cNvPr>
          <p:cNvSpPr txBox="1"/>
          <p:nvPr/>
        </p:nvSpPr>
        <p:spPr>
          <a:xfrm>
            <a:off x="1473200" y="4699000"/>
            <a:ext cx="279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58A6FF"/>
                </a:solidFill>
                <a:latin typeface="Segoe UI" panose="020B0502040204020203" pitchFamily="34" charset="0"/>
              </a:rPr>
              <a:t>Run the Generated Script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032D1C-E379-DD08-22DF-47E64531CDDB}"/>
              </a:ext>
            </a:extLst>
          </p:cNvPr>
          <p:cNvSpPr txBox="1"/>
          <p:nvPr/>
        </p:nvSpPr>
        <p:spPr>
          <a:xfrm>
            <a:off x="1473200" y="5105400"/>
            <a:ext cx="9499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89929B"/>
                </a:solidFill>
                <a:latin typeface="Segoe UI" panose="020B0502040204020203" pitchFamily="34" charset="0"/>
              </a:rPr>
              <a:t>Copilot generates a .ps1 (or .py) file in your workspace. Run it with: powershell -ExecutionPolicy Bypass -File '.\create_presentation.ps1'</a:t>
            </a:r>
          </a:p>
        </p:txBody>
      </p:sp>
    </p:spTree>
    <p:extLst>
      <p:ext uri="{BB962C8B-B14F-4D97-AF65-F5344CB8AC3E}">
        <p14:creationId xmlns:p14="http://schemas.microsoft.com/office/powerpoint/2010/main" val="1519229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13E9B6-6111-95B6-AC5D-3D39E9B829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85D864-60F9-0861-6D1D-15CA23477899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3FB9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25346A-871C-656C-C446-0C549F68619D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161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57E84B-6DFB-9C85-6AE3-D6EE93527166}"/>
              </a:ext>
            </a:extLst>
          </p:cNvPr>
          <p:cNvSpPr/>
          <p:nvPr/>
        </p:nvSpPr>
        <p:spPr>
          <a:xfrm>
            <a:off x="0" y="990600"/>
            <a:ext cx="12192000" cy="25400"/>
          </a:xfrm>
          <a:prstGeom prst="rect">
            <a:avLst/>
          </a:prstGeom>
          <a:solidFill>
            <a:srgbClr val="3036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A8F7FA-9AD3-285D-87A4-CB05F28DA542}"/>
              </a:ext>
            </a:extLst>
          </p:cNvPr>
          <p:cNvSpPr txBox="1"/>
          <p:nvPr/>
        </p:nvSpPr>
        <p:spPr>
          <a:xfrm>
            <a:off x="457200" y="228600"/>
            <a:ext cx="11176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E6EDF3"/>
                </a:solidFill>
                <a:latin typeface="Segoe UI" panose="020B0502040204020203" pitchFamily="34" charset="0"/>
              </a:rPr>
              <a:t>Troubleshooting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85DA6D-F7BE-F974-A210-BD07A4748559}"/>
              </a:ext>
            </a:extLst>
          </p:cNvPr>
          <p:cNvSpPr/>
          <p:nvPr/>
        </p:nvSpPr>
        <p:spPr>
          <a:xfrm>
            <a:off x="457200" y="1270000"/>
            <a:ext cx="11277600" cy="1117600"/>
          </a:xfrm>
          <a:prstGeom prst="rect">
            <a:avLst/>
          </a:prstGeom>
          <a:solidFill>
            <a:srgbClr val="161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C68BDB-2B71-3C12-6E67-71D965C26001}"/>
              </a:ext>
            </a:extLst>
          </p:cNvPr>
          <p:cNvSpPr/>
          <p:nvPr/>
        </p:nvSpPr>
        <p:spPr>
          <a:xfrm>
            <a:off x="457200" y="1270000"/>
            <a:ext cx="50800" cy="1117600"/>
          </a:xfrm>
          <a:prstGeom prst="rect">
            <a:avLst/>
          </a:prstGeom>
          <a:solidFill>
            <a:srgbClr val="3FB9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BF6EE4-A327-D559-0C79-65A84F059D15}"/>
              </a:ext>
            </a:extLst>
          </p:cNvPr>
          <p:cNvSpPr txBox="1"/>
          <p:nvPr/>
        </p:nvSpPr>
        <p:spPr>
          <a:xfrm>
            <a:off x="711200" y="1397000"/>
            <a:ext cx="10668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3FB950"/>
                </a:solidFill>
                <a:latin typeface="Segoe UI" panose="020B0502040204020203" pitchFamily="34" charset="0"/>
              </a:rPr>
              <a:t>SSL Certificate Error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1948D0-0EE4-1DB1-355C-CBB7B56AD042}"/>
              </a:ext>
            </a:extLst>
          </p:cNvPr>
          <p:cNvSpPr txBox="1"/>
          <p:nvPr/>
        </p:nvSpPr>
        <p:spPr>
          <a:xfrm>
            <a:off x="711200" y="1752600"/>
            <a:ext cx="1066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89929B"/>
                </a:solidFill>
                <a:latin typeface="Segoe UI" panose="020B0502040204020203" pitchFamily="34" charset="0"/>
              </a:rPr>
              <a:t>Add --trusted-host flags to pip, or switch to Option B (PowerShell COM)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C8AE2D-ECA8-F2C8-4E57-980E5B8F61D5}"/>
              </a:ext>
            </a:extLst>
          </p:cNvPr>
          <p:cNvSpPr/>
          <p:nvPr/>
        </p:nvSpPr>
        <p:spPr>
          <a:xfrm>
            <a:off x="457200" y="2514600"/>
            <a:ext cx="11277600" cy="1117600"/>
          </a:xfrm>
          <a:prstGeom prst="rect">
            <a:avLst/>
          </a:prstGeom>
          <a:solidFill>
            <a:srgbClr val="161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9FDE7B-AEA5-786A-898F-CE2DF21C2BFC}"/>
              </a:ext>
            </a:extLst>
          </p:cNvPr>
          <p:cNvSpPr/>
          <p:nvPr/>
        </p:nvSpPr>
        <p:spPr>
          <a:xfrm>
            <a:off x="457200" y="2514600"/>
            <a:ext cx="50800" cy="1117600"/>
          </a:xfrm>
          <a:prstGeom prst="rect">
            <a:avLst/>
          </a:prstGeom>
          <a:solidFill>
            <a:srgbClr val="3FB9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D1E19E-DDE6-E2DC-2980-2507FD788C49}"/>
              </a:ext>
            </a:extLst>
          </p:cNvPr>
          <p:cNvSpPr txBox="1"/>
          <p:nvPr/>
        </p:nvSpPr>
        <p:spPr>
          <a:xfrm>
            <a:off x="711200" y="2641600"/>
            <a:ext cx="10668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3FB950"/>
                </a:solidFill>
                <a:latin typeface="Segoe UI" panose="020B0502040204020203" pitchFamily="34" charset="0"/>
              </a:rPr>
              <a:t>Hash Mismatch on Download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883D44-A694-9512-C6E1-9BE985841738}"/>
              </a:ext>
            </a:extLst>
          </p:cNvPr>
          <p:cNvSpPr txBox="1"/>
          <p:nvPr/>
        </p:nvSpPr>
        <p:spPr>
          <a:xfrm>
            <a:off x="711200" y="2997200"/>
            <a:ext cx="1066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89929B"/>
                </a:solidFill>
                <a:latin typeface="Segoe UI" panose="020B0502040204020203" pitchFamily="34" charset="0"/>
              </a:rPr>
              <a:t>Corporate proxy rewrites packages. Run pip cache purge then retry, or use Option 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3449C0-35EE-32AD-6A16-3D07B05115BA}"/>
              </a:ext>
            </a:extLst>
          </p:cNvPr>
          <p:cNvSpPr/>
          <p:nvPr/>
        </p:nvSpPr>
        <p:spPr>
          <a:xfrm>
            <a:off x="457200" y="3759200"/>
            <a:ext cx="11277600" cy="1117600"/>
          </a:xfrm>
          <a:prstGeom prst="rect">
            <a:avLst/>
          </a:prstGeom>
          <a:solidFill>
            <a:srgbClr val="161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1AF097-124D-4981-020D-206D0ED3A06B}"/>
              </a:ext>
            </a:extLst>
          </p:cNvPr>
          <p:cNvSpPr/>
          <p:nvPr/>
        </p:nvSpPr>
        <p:spPr>
          <a:xfrm>
            <a:off x="457200" y="3759200"/>
            <a:ext cx="50800" cy="1117600"/>
          </a:xfrm>
          <a:prstGeom prst="rect">
            <a:avLst/>
          </a:prstGeom>
          <a:solidFill>
            <a:srgbClr val="3FB9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7A0D64-F6E7-2A98-F881-D5CB9FDB271E}"/>
              </a:ext>
            </a:extLst>
          </p:cNvPr>
          <p:cNvSpPr txBox="1"/>
          <p:nvPr/>
        </p:nvSpPr>
        <p:spPr>
          <a:xfrm>
            <a:off x="711200" y="3886200"/>
            <a:ext cx="10668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3FB950"/>
                </a:solidFill>
                <a:latin typeface="Segoe UI" panose="020B0502040204020203" pitchFamily="34" charset="0"/>
              </a:rPr>
              <a:t>pip Upgrade Fails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F262F8-565B-6694-FD28-24F461672210}"/>
              </a:ext>
            </a:extLst>
          </p:cNvPr>
          <p:cNvSpPr txBox="1"/>
          <p:nvPr/>
        </p:nvSpPr>
        <p:spPr>
          <a:xfrm>
            <a:off x="711200" y="4241800"/>
            <a:ext cx="1066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89929B"/>
                </a:solidFill>
                <a:latin typeface="Segoe UI" panose="020B0502040204020203" pitchFamily="34" charset="0"/>
              </a:rPr>
              <a:t>Use: python -m pip install --upgrade pip --trusted-host pypi.org --trusted-host files.pythonhosted.org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7F358E5-2254-6257-9699-53F487F24580}"/>
              </a:ext>
            </a:extLst>
          </p:cNvPr>
          <p:cNvSpPr/>
          <p:nvPr/>
        </p:nvSpPr>
        <p:spPr>
          <a:xfrm>
            <a:off x="457200" y="5003800"/>
            <a:ext cx="11277600" cy="1117600"/>
          </a:xfrm>
          <a:prstGeom prst="rect">
            <a:avLst/>
          </a:prstGeom>
          <a:solidFill>
            <a:srgbClr val="161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BA5660-D11D-FFF9-2BB7-99FE98D1468D}"/>
              </a:ext>
            </a:extLst>
          </p:cNvPr>
          <p:cNvSpPr/>
          <p:nvPr/>
        </p:nvSpPr>
        <p:spPr>
          <a:xfrm>
            <a:off x="457200" y="5003800"/>
            <a:ext cx="50800" cy="1117600"/>
          </a:xfrm>
          <a:prstGeom prst="rect">
            <a:avLst/>
          </a:prstGeom>
          <a:solidFill>
            <a:srgbClr val="3FB9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70ED1E-7309-CA4D-08DC-3AF6BEDB9D60}"/>
              </a:ext>
            </a:extLst>
          </p:cNvPr>
          <p:cNvSpPr txBox="1"/>
          <p:nvPr/>
        </p:nvSpPr>
        <p:spPr>
          <a:xfrm>
            <a:off x="711200" y="5130800"/>
            <a:ext cx="10668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3FB950"/>
                </a:solidFill>
                <a:latin typeface="Segoe UI" panose="020B0502040204020203" pitchFamily="34" charset="0"/>
              </a:rPr>
              <a:t>Encoding / Token Error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B16EE7-F383-FD19-3EB6-BEBF6AC54363}"/>
              </a:ext>
            </a:extLst>
          </p:cNvPr>
          <p:cNvSpPr txBox="1"/>
          <p:nvPr/>
        </p:nvSpPr>
        <p:spPr>
          <a:xfrm>
            <a:off x="711200" y="5486400"/>
            <a:ext cx="1066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89929B"/>
                </a:solidFill>
                <a:latin typeface="Segoe UI" panose="020B0502040204020203" pitchFamily="34" charset="0"/>
              </a:rPr>
              <a:t>Special characters (em dashes, smart quotes) in .ps1 files. Replace with plain ASCII equivalents (- instead of a dash character)</a:t>
            </a:r>
          </a:p>
        </p:txBody>
      </p:sp>
    </p:spTree>
    <p:extLst>
      <p:ext uri="{BB962C8B-B14F-4D97-AF65-F5344CB8AC3E}">
        <p14:creationId xmlns:p14="http://schemas.microsoft.com/office/powerpoint/2010/main" val="303371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280AA2-DF05-178F-0481-6A66264612E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C9022C-E334-1E17-7031-DB8DA87BC232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58A6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CA3FBE-7373-C0A3-156C-BC4BF6BB2939}"/>
              </a:ext>
            </a:extLst>
          </p:cNvPr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161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8B93D0-CB4C-9DA0-020E-C8C3EC72BF28}"/>
              </a:ext>
            </a:extLst>
          </p:cNvPr>
          <p:cNvSpPr/>
          <p:nvPr/>
        </p:nvSpPr>
        <p:spPr>
          <a:xfrm>
            <a:off x="0" y="990600"/>
            <a:ext cx="12192000" cy="25400"/>
          </a:xfrm>
          <a:prstGeom prst="rect">
            <a:avLst/>
          </a:prstGeom>
          <a:solidFill>
            <a:srgbClr val="3036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A646D0-1922-F3F7-33F2-7AD7153A3683}"/>
              </a:ext>
            </a:extLst>
          </p:cNvPr>
          <p:cNvSpPr txBox="1"/>
          <p:nvPr/>
        </p:nvSpPr>
        <p:spPr>
          <a:xfrm>
            <a:off x="457200" y="228600"/>
            <a:ext cx="11176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E6EDF3"/>
                </a:solidFill>
                <a:latin typeface="Segoe UI" panose="020B0502040204020203" pitchFamily="34" charset="0"/>
              </a:rPr>
              <a:t>Color Themes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B24575-F7D5-EFF2-F657-A7634C3DE280}"/>
              </a:ext>
            </a:extLst>
          </p:cNvPr>
          <p:cNvSpPr/>
          <p:nvPr/>
        </p:nvSpPr>
        <p:spPr>
          <a:xfrm>
            <a:off x="457200" y="1295400"/>
            <a:ext cx="11277600" cy="863600"/>
          </a:xfrm>
          <a:prstGeom prst="rect">
            <a:avLst/>
          </a:prstGeom>
          <a:solidFill>
            <a:srgbClr val="161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E9BFDE-7A6F-60FA-71BF-BCF5B6458BD9}"/>
              </a:ext>
            </a:extLst>
          </p:cNvPr>
          <p:cNvSpPr/>
          <p:nvPr/>
        </p:nvSpPr>
        <p:spPr>
          <a:xfrm>
            <a:off x="457200" y="1295400"/>
            <a:ext cx="685800" cy="863600"/>
          </a:xfrm>
          <a:prstGeom prst="rect">
            <a:avLst/>
          </a:prstGeom>
          <a:solidFill>
            <a:srgbClr val="1F35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EB395E-52FC-0723-A470-7E115D1EB7B1}"/>
              </a:ext>
            </a:extLst>
          </p:cNvPr>
          <p:cNvSpPr/>
          <p:nvPr/>
        </p:nvSpPr>
        <p:spPr>
          <a:xfrm>
            <a:off x="1143000" y="1295400"/>
            <a:ext cx="685800" cy="863600"/>
          </a:xfrm>
          <a:prstGeom prst="rect">
            <a:avLst/>
          </a:prstGeom>
          <a:solidFill>
            <a:srgbClr val="2E75B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EB8C0F-1747-5B64-1BFA-C0D701F5790B}"/>
              </a:ext>
            </a:extLst>
          </p:cNvPr>
          <p:cNvSpPr txBox="1"/>
          <p:nvPr/>
        </p:nvSpPr>
        <p:spPr>
          <a:xfrm>
            <a:off x="2057400" y="1397000"/>
            <a:ext cx="330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E6EDF3"/>
                </a:solidFill>
                <a:latin typeface="Segoe UI" panose="020B0502040204020203" pitchFamily="34" charset="0"/>
              </a:rPr>
              <a:t>Corporate Blue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EF2224-B264-6462-5EDB-E0C68B4D718A}"/>
              </a:ext>
            </a:extLst>
          </p:cNvPr>
          <p:cNvSpPr txBox="1"/>
          <p:nvPr/>
        </p:nvSpPr>
        <p:spPr>
          <a:xfrm>
            <a:off x="5461000" y="1422400"/>
            <a:ext cx="254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89929B"/>
                </a:solidFill>
                <a:latin typeface="Segoe UI" panose="020B0502040204020203" pitchFamily="34" charset="0"/>
              </a:rPr>
              <a:t>#1F3564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6DEEF3-5680-5C2C-2E85-1DAE0E8905A7}"/>
              </a:ext>
            </a:extLst>
          </p:cNvPr>
          <p:cNvSpPr txBox="1"/>
          <p:nvPr/>
        </p:nvSpPr>
        <p:spPr>
          <a:xfrm>
            <a:off x="8128000" y="1422400"/>
            <a:ext cx="254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89929B"/>
                </a:solidFill>
                <a:latin typeface="Segoe UI" panose="020B0502040204020203" pitchFamily="34" charset="0"/>
              </a:rPr>
              <a:t>#2E75B6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57CA73-4101-B2BE-700A-D93406A995E3}"/>
              </a:ext>
            </a:extLst>
          </p:cNvPr>
          <p:cNvSpPr/>
          <p:nvPr/>
        </p:nvSpPr>
        <p:spPr>
          <a:xfrm>
            <a:off x="457200" y="2260600"/>
            <a:ext cx="11277600" cy="863600"/>
          </a:xfrm>
          <a:prstGeom prst="rect">
            <a:avLst/>
          </a:prstGeom>
          <a:solidFill>
            <a:srgbClr val="161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72B938-707C-0B9B-E28B-BB54B0BA26E3}"/>
              </a:ext>
            </a:extLst>
          </p:cNvPr>
          <p:cNvSpPr/>
          <p:nvPr/>
        </p:nvSpPr>
        <p:spPr>
          <a:xfrm>
            <a:off x="457200" y="2260600"/>
            <a:ext cx="685800" cy="863600"/>
          </a:xfrm>
          <a:prstGeom prst="rect">
            <a:avLst/>
          </a:prstGeom>
          <a:solidFill>
            <a:srgbClr val="2C3E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4C73F1-B10B-22A0-A3E6-740FC4D373E0}"/>
              </a:ext>
            </a:extLst>
          </p:cNvPr>
          <p:cNvSpPr/>
          <p:nvPr/>
        </p:nvSpPr>
        <p:spPr>
          <a:xfrm>
            <a:off x="1143000" y="2260600"/>
            <a:ext cx="685800" cy="863600"/>
          </a:xfrm>
          <a:prstGeom prst="rect">
            <a:avLst/>
          </a:prstGeom>
          <a:solidFill>
            <a:srgbClr val="1ABC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74F8D1-B0A4-A594-8DD8-061B5B3631BF}"/>
              </a:ext>
            </a:extLst>
          </p:cNvPr>
          <p:cNvSpPr txBox="1"/>
          <p:nvPr/>
        </p:nvSpPr>
        <p:spPr>
          <a:xfrm>
            <a:off x="2057400" y="2362200"/>
            <a:ext cx="330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E6EDF3"/>
                </a:solidFill>
                <a:latin typeface="Segoe UI" panose="020B0502040204020203" pitchFamily="34" charset="0"/>
              </a:rPr>
              <a:t>Slate and Teal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64A2FA-77C9-254C-93DD-44E8D4070BAF}"/>
              </a:ext>
            </a:extLst>
          </p:cNvPr>
          <p:cNvSpPr txBox="1"/>
          <p:nvPr/>
        </p:nvSpPr>
        <p:spPr>
          <a:xfrm>
            <a:off x="5461000" y="2387600"/>
            <a:ext cx="254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89929B"/>
                </a:solidFill>
                <a:latin typeface="Segoe UI" panose="020B0502040204020203" pitchFamily="34" charset="0"/>
              </a:rPr>
              <a:t>#2C3E50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A4332A-4A7A-4579-CCBE-4BAD600A6BE2}"/>
              </a:ext>
            </a:extLst>
          </p:cNvPr>
          <p:cNvSpPr txBox="1"/>
          <p:nvPr/>
        </p:nvSpPr>
        <p:spPr>
          <a:xfrm>
            <a:off x="8128000" y="2387600"/>
            <a:ext cx="254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89929B"/>
                </a:solidFill>
                <a:latin typeface="Segoe UI" panose="020B0502040204020203" pitchFamily="34" charset="0"/>
              </a:rPr>
              <a:t>#1ABC9C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D696112-10C0-0053-E4E2-40C9D2942AF6}"/>
              </a:ext>
            </a:extLst>
          </p:cNvPr>
          <p:cNvSpPr/>
          <p:nvPr/>
        </p:nvSpPr>
        <p:spPr>
          <a:xfrm>
            <a:off x="457200" y="3225800"/>
            <a:ext cx="11277600" cy="863600"/>
          </a:xfrm>
          <a:prstGeom prst="rect">
            <a:avLst/>
          </a:prstGeom>
          <a:solidFill>
            <a:srgbClr val="161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412411-76D2-EB4F-5754-BC841E1337F8}"/>
              </a:ext>
            </a:extLst>
          </p:cNvPr>
          <p:cNvSpPr/>
          <p:nvPr/>
        </p:nvSpPr>
        <p:spPr>
          <a:xfrm>
            <a:off x="457200" y="3225800"/>
            <a:ext cx="685800" cy="8636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53D5D94-AA63-387E-E4C4-C4C63B464E07}"/>
              </a:ext>
            </a:extLst>
          </p:cNvPr>
          <p:cNvSpPr/>
          <p:nvPr/>
        </p:nvSpPr>
        <p:spPr>
          <a:xfrm>
            <a:off x="1143000" y="3225800"/>
            <a:ext cx="685800" cy="863600"/>
          </a:xfrm>
          <a:prstGeom prst="rect">
            <a:avLst/>
          </a:prstGeom>
          <a:solidFill>
            <a:srgbClr val="E74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C6EA22-425A-1B67-7203-FAA07BD84638}"/>
              </a:ext>
            </a:extLst>
          </p:cNvPr>
          <p:cNvSpPr txBox="1"/>
          <p:nvPr/>
        </p:nvSpPr>
        <p:spPr>
          <a:xfrm>
            <a:off x="2057400" y="3327400"/>
            <a:ext cx="330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E6EDF3"/>
                </a:solidFill>
                <a:latin typeface="Segoe UI" panose="020B0502040204020203" pitchFamily="34" charset="0"/>
              </a:rPr>
              <a:t>Crimson Pro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FAF67F-7317-9EA5-63A8-4CEC9F4F8AEA}"/>
              </a:ext>
            </a:extLst>
          </p:cNvPr>
          <p:cNvSpPr txBox="1"/>
          <p:nvPr/>
        </p:nvSpPr>
        <p:spPr>
          <a:xfrm>
            <a:off x="5461000" y="3352800"/>
            <a:ext cx="254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89929B"/>
                </a:solidFill>
                <a:latin typeface="Segoe UI" panose="020B0502040204020203" pitchFamily="34" charset="0"/>
              </a:rPr>
              <a:t>#C0392B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4711C9-C1BB-6EB6-02CD-3326A1D9610F}"/>
              </a:ext>
            </a:extLst>
          </p:cNvPr>
          <p:cNvSpPr txBox="1"/>
          <p:nvPr/>
        </p:nvSpPr>
        <p:spPr>
          <a:xfrm>
            <a:off x="8128000" y="3352800"/>
            <a:ext cx="254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89929B"/>
                </a:solidFill>
                <a:latin typeface="Segoe UI" panose="020B0502040204020203" pitchFamily="34" charset="0"/>
              </a:rPr>
              <a:t>#E74C3C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EBE4E79-9611-C22A-BEA4-04942DB74362}"/>
              </a:ext>
            </a:extLst>
          </p:cNvPr>
          <p:cNvSpPr/>
          <p:nvPr/>
        </p:nvSpPr>
        <p:spPr>
          <a:xfrm>
            <a:off x="457200" y="4191000"/>
            <a:ext cx="11277600" cy="863600"/>
          </a:xfrm>
          <a:prstGeom prst="rect">
            <a:avLst/>
          </a:prstGeom>
          <a:solidFill>
            <a:srgbClr val="161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224CCA2-C322-888D-0753-E3D2BC237FF7}"/>
              </a:ext>
            </a:extLst>
          </p:cNvPr>
          <p:cNvSpPr/>
          <p:nvPr/>
        </p:nvSpPr>
        <p:spPr>
          <a:xfrm>
            <a:off x="457200" y="4191000"/>
            <a:ext cx="685800" cy="863600"/>
          </a:xfrm>
          <a:prstGeom prst="rect">
            <a:avLst/>
          </a:prstGeom>
          <a:solidFill>
            <a:srgbClr val="1E57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E836DCC-D68E-87EA-1B2F-0A4B204A6D7E}"/>
              </a:ext>
            </a:extLst>
          </p:cNvPr>
          <p:cNvSpPr/>
          <p:nvPr/>
        </p:nvSpPr>
        <p:spPr>
          <a:xfrm>
            <a:off x="1143000" y="4191000"/>
            <a:ext cx="685800" cy="8636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7EF8B8-96F6-D827-F490-0CEA4C0E477D}"/>
              </a:ext>
            </a:extLst>
          </p:cNvPr>
          <p:cNvSpPr txBox="1"/>
          <p:nvPr/>
        </p:nvSpPr>
        <p:spPr>
          <a:xfrm>
            <a:off x="2057400" y="4292600"/>
            <a:ext cx="330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E6EDF3"/>
                </a:solidFill>
                <a:latin typeface="Segoe UI" panose="020B0502040204020203" pitchFamily="34" charset="0"/>
              </a:rPr>
              <a:t>Forest Green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4100BBC-5163-A783-6E7B-809EE2CFEC2E}"/>
              </a:ext>
            </a:extLst>
          </p:cNvPr>
          <p:cNvSpPr txBox="1"/>
          <p:nvPr/>
        </p:nvSpPr>
        <p:spPr>
          <a:xfrm>
            <a:off x="5461000" y="4318000"/>
            <a:ext cx="254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89929B"/>
                </a:solidFill>
                <a:latin typeface="Segoe UI" panose="020B0502040204020203" pitchFamily="34" charset="0"/>
              </a:rPr>
              <a:t>#1E574B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6EB394-C677-4C4D-A414-9D453A95A144}"/>
              </a:ext>
            </a:extLst>
          </p:cNvPr>
          <p:cNvSpPr txBox="1"/>
          <p:nvPr/>
        </p:nvSpPr>
        <p:spPr>
          <a:xfrm>
            <a:off x="8128000" y="4318000"/>
            <a:ext cx="254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89929B"/>
                </a:solidFill>
                <a:latin typeface="Segoe UI" panose="020B0502040204020203" pitchFamily="34" charset="0"/>
              </a:rPr>
              <a:t>#27AE60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1D7FEA9-0EE2-1BAD-9112-F9A966989967}"/>
              </a:ext>
            </a:extLst>
          </p:cNvPr>
          <p:cNvSpPr/>
          <p:nvPr/>
        </p:nvSpPr>
        <p:spPr>
          <a:xfrm>
            <a:off x="457200" y="5156200"/>
            <a:ext cx="11277600" cy="863600"/>
          </a:xfrm>
          <a:prstGeom prst="rect">
            <a:avLst/>
          </a:prstGeom>
          <a:solidFill>
            <a:srgbClr val="161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3491D43-FA8E-7F87-3B79-1B48AF08492E}"/>
              </a:ext>
            </a:extLst>
          </p:cNvPr>
          <p:cNvSpPr/>
          <p:nvPr/>
        </p:nvSpPr>
        <p:spPr>
          <a:xfrm>
            <a:off x="457200" y="5156200"/>
            <a:ext cx="685800" cy="863600"/>
          </a:xfrm>
          <a:prstGeom prst="rect">
            <a:avLst/>
          </a:prstGeom>
          <a:solidFill>
            <a:srgbClr val="0D111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9CEA9FF-96C4-1B76-8BE5-F737B5075FFE}"/>
              </a:ext>
            </a:extLst>
          </p:cNvPr>
          <p:cNvSpPr/>
          <p:nvPr/>
        </p:nvSpPr>
        <p:spPr>
          <a:xfrm>
            <a:off x="1143000" y="5156200"/>
            <a:ext cx="685800" cy="863600"/>
          </a:xfrm>
          <a:prstGeom prst="rect">
            <a:avLst/>
          </a:prstGeom>
          <a:solidFill>
            <a:srgbClr val="58A6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4C1CC04-6000-B262-2889-52FE4C49CE2C}"/>
              </a:ext>
            </a:extLst>
          </p:cNvPr>
          <p:cNvSpPr txBox="1"/>
          <p:nvPr/>
        </p:nvSpPr>
        <p:spPr>
          <a:xfrm>
            <a:off x="2057400" y="5257800"/>
            <a:ext cx="330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E6EDF3"/>
                </a:solidFill>
                <a:latin typeface="Segoe UI" panose="020B0502040204020203" pitchFamily="34" charset="0"/>
              </a:rPr>
              <a:t>Midnight Dark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8F8FDA-E41F-6FD4-2F4B-84BDD8AF0DFD}"/>
              </a:ext>
            </a:extLst>
          </p:cNvPr>
          <p:cNvSpPr txBox="1"/>
          <p:nvPr/>
        </p:nvSpPr>
        <p:spPr>
          <a:xfrm>
            <a:off x="5461000" y="5283200"/>
            <a:ext cx="254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89929B"/>
                </a:solidFill>
                <a:latin typeface="Segoe UI" panose="020B0502040204020203" pitchFamily="34" charset="0"/>
              </a:rPr>
              <a:t>#0D1117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5DE36C-45BD-87C4-E999-876E79572564}"/>
              </a:ext>
            </a:extLst>
          </p:cNvPr>
          <p:cNvSpPr txBox="1"/>
          <p:nvPr/>
        </p:nvSpPr>
        <p:spPr>
          <a:xfrm>
            <a:off x="8128000" y="5283200"/>
            <a:ext cx="254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89929B"/>
                </a:solidFill>
                <a:latin typeface="Segoe UI" panose="020B0502040204020203" pitchFamily="34" charset="0"/>
              </a:rPr>
              <a:t>#58A6FF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6B30BD6-8C72-14DE-393B-A3AE0E7AB999}"/>
              </a:ext>
            </a:extLst>
          </p:cNvPr>
          <p:cNvSpPr/>
          <p:nvPr/>
        </p:nvSpPr>
        <p:spPr>
          <a:xfrm>
            <a:off x="457200" y="6273800"/>
            <a:ext cx="11277600" cy="25400"/>
          </a:xfrm>
          <a:prstGeom prst="rect">
            <a:avLst/>
          </a:prstGeom>
          <a:solidFill>
            <a:srgbClr val="3036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937609C-8D23-D53A-BB02-3B79D6282892}"/>
              </a:ext>
            </a:extLst>
          </p:cNvPr>
          <p:cNvSpPr txBox="1"/>
          <p:nvPr/>
        </p:nvSpPr>
        <p:spPr>
          <a:xfrm>
            <a:off x="457200" y="6350000"/>
            <a:ext cx="11277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89929B"/>
                </a:solidFill>
                <a:latin typeface="Segoe UI" panose="020B0502040204020203" pitchFamily="34" charset="0"/>
              </a:rPr>
              <a:t>Specify a theme name when prompting Copilot: 'Create a presentation using the Midnight Dark theme'</a:t>
            </a:r>
          </a:p>
        </p:txBody>
      </p:sp>
    </p:spTree>
    <p:extLst>
      <p:ext uri="{BB962C8B-B14F-4D97-AF65-F5344CB8AC3E}">
        <p14:creationId xmlns:p14="http://schemas.microsoft.com/office/powerpoint/2010/main" val="2828863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CB1247-5C81-080C-8C8D-8FE222CFF5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F601B3-7AB4-E9BD-7D80-3635F0DC8515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58A6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77B52A-8A8F-112E-0171-B0C0B65D79B5}"/>
              </a:ext>
            </a:extLst>
          </p:cNvPr>
          <p:cNvSpPr/>
          <p:nvPr/>
        </p:nvSpPr>
        <p:spPr>
          <a:xfrm>
            <a:off x="1016000" y="0"/>
            <a:ext cx="12700" cy="6858000"/>
          </a:xfrm>
          <a:prstGeom prst="rect">
            <a:avLst/>
          </a:prstGeom>
          <a:solidFill>
            <a:srgbClr val="1C22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706AEE-2566-EF5E-27B3-32FC0FC30301}"/>
              </a:ext>
            </a:extLst>
          </p:cNvPr>
          <p:cNvSpPr/>
          <p:nvPr/>
        </p:nvSpPr>
        <p:spPr>
          <a:xfrm>
            <a:off x="2032000" y="0"/>
            <a:ext cx="12700" cy="6858000"/>
          </a:xfrm>
          <a:prstGeom prst="rect">
            <a:avLst/>
          </a:prstGeom>
          <a:solidFill>
            <a:srgbClr val="1C22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D7E3F8-034F-5157-639E-874D2D7B30D8}"/>
              </a:ext>
            </a:extLst>
          </p:cNvPr>
          <p:cNvSpPr/>
          <p:nvPr/>
        </p:nvSpPr>
        <p:spPr>
          <a:xfrm>
            <a:off x="3048000" y="0"/>
            <a:ext cx="12700" cy="6858000"/>
          </a:xfrm>
          <a:prstGeom prst="rect">
            <a:avLst/>
          </a:prstGeom>
          <a:solidFill>
            <a:srgbClr val="1C22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0EC151-6D0C-EB74-A3DB-1485C19AC303}"/>
              </a:ext>
            </a:extLst>
          </p:cNvPr>
          <p:cNvSpPr/>
          <p:nvPr/>
        </p:nvSpPr>
        <p:spPr>
          <a:xfrm>
            <a:off x="4064000" y="0"/>
            <a:ext cx="12700" cy="6858000"/>
          </a:xfrm>
          <a:prstGeom prst="rect">
            <a:avLst/>
          </a:prstGeom>
          <a:solidFill>
            <a:srgbClr val="1C22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2877E1-C1F1-1713-EFC6-865120CA5358}"/>
              </a:ext>
            </a:extLst>
          </p:cNvPr>
          <p:cNvSpPr/>
          <p:nvPr/>
        </p:nvSpPr>
        <p:spPr>
          <a:xfrm>
            <a:off x="5080000" y="0"/>
            <a:ext cx="12700" cy="6858000"/>
          </a:xfrm>
          <a:prstGeom prst="rect">
            <a:avLst/>
          </a:prstGeom>
          <a:solidFill>
            <a:srgbClr val="1C22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9C00C3-A946-2E36-560F-A3AC0AD2AB8C}"/>
              </a:ext>
            </a:extLst>
          </p:cNvPr>
          <p:cNvSpPr/>
          <p:nvPr/>
        </p:nvSpPr>
        <p:spPr>
          <a:xfrm>
            <a:off x="6096000" y="0"/>
            <a:ext cx="12700" cy="6858000"/>
          </a:xfrm>
          <a:prstGeom prst="rect">
            <a:avLst/>
          </a:prstGeom>
          <a:solidFill>
            <a:srgbClr val="1C22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7EF703-4377-4B09-5A5C-8630D2947B77}"/>
              </a:ext>
            </a:extLst>
          </p:cNvPr>
          <p:cNvSpPr/>
          <p:nvPr/>
        </p:nvSpPr>
        <p:spPr>
          <a:xfrm>
            <a:off x="7112000" y="0"/>
            <a:ext cx="12700" cy="6858000"/>
          </a:xfrm>
          <a:prstGeom prst="rect">
            <a:avLst/>
          </a:prstGeom>
          <a:solidFill>
            <a:srgbClr val="1C22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910384-1637-F275-9D9D-2753B758D6C2}"/>
              </a:ext>
            </a:extLst>
          </p:cNvPr>
          <p:cNvSpPr/>
          <p:nvPr/>
        </p:nvSpPr>
        <p:spPr>
          <a:xfrm>
            <a:off x="8128000" y="0"/>
            <a:ext cx="12700" cy="6858000"/>
          </a:xfrm>
          <a:prstGeom prst="rect">
            <a:avLst/>
          </a:prstGeom>
          <a:solidFill>
            <a:srgbClr val="1C22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6393E-7E0E-D678-C29F-77409D692738}"/>
              </a:ext>
            </a:extLst>
          </p:cNvPr>
          <p:cNvSpPr/>
          <p:nvPr/>
        </p:nvSpPr>
        <p:spPr>
          <a:xfrm>
            <a:off x="9144000" y="0"/>
            <a:ext cx="12700" cy="6858000"/>
          </a:xfrm>
          <a:prstGeom prst="rect">
            <a:avLst/>
          </a:prstGeom>
          <a:solidFill>
            <a:srgbClr val="1C22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765D7A-BBA7-E881-15F0-A51BDF55D40D}"/>
              </a:ext>
            </a:extLst>
          </p:cNvPr>
          <p:cNvSpPr/>
          <p:nvPr/>
        </p:nvSpPr>
        <p:spPr>
          <a:xfrm>
            <a:off x="10160000" y="0"/>
            <a:ext cx="12700" cy="6858000"/>
          </a:xfrm>
          <a:prstGeom prst="rect">
            <a:avLst/>
          </a:prstGeom>
          <a:solidFill>
            <a:srgbClr val="1C22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FB90F7-2434-7CD2-8EAE-94CA64BB130B}"/>
              </a:ext>
            </a:extLst>
          </p:cNvPr>
          <p:cNvSpPr/>
          <p:nvPr/>
        </p:nvSpPr>
        <p:spPr>
          <a:xfrm>
            <a:off x="11176000" y="0"/>
            <a:ext cx="12700" cy="6858000"/>
          </a:xfrm>
          <a:prstGeom prst="rect">
            <a:avLst/>
          </a:prstGeom>
          <a:solidFill>
            <a:srgbClr val="1C22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65C21F-5C66-457A-43B6-8A08D065E667}"/>
              </a:ext>
            </a:extLst>
          </p:cNvPr>
          <p:cNvSpPr/>
          <p:nvPr/>
        </p:nvSpPr>
        <p:spPr>
          <a:xfrm>
            <a:off x="0" y="762000"/>
            <a:ext cx="12192000" cy="12700"/>
          </a:xfrm>
          <a:prstGeom prst="rect">
            <a:avLst/>
          </a:prstGeom>
          <a:solidFill>
            <a:srgbClr val="1C22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0A3BB4-5F82-51E9-B50E-57330A6F0680}"/>
              </a:ext>
            </a:extLst>
          </p:cNvPr>
          <p:cNvSpPr/>
          <p:nvPr/>
        </p:nvSpPr>
        <p:spPr>
          <a:xfrm>
            <a:off x="0" y="1524000"/>
            <a:ext cx="12192000" cy="12700"/>
          </a:xfrm>
          <a:prstGeom prst="rect">
            <a:avLst/>
          </a:prstGeom>
          <a:solidFill>
            <a:srgbClr val="1C22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346F98-7822-2803-5D4D-59D037E1E2B1}"/>
              </a:ext>
            </a:extLst>
          </p:cNvPr>
          <p:cNvSpPr/>
          <p:nvPr/>
        </p:nvSpPr>
        <p:spPr>
          <a:xfrm>
            <a:off x="0" y="2286000"/>
            <a:ext cx="12192000" cy="12700"/>
          </a:xfrm>
          <a:prstGeom prst="rect">
            <a:avLst/>
          </a:prstGeom>
          <a:solidFill>
            <a:srgbClr val="1C22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06F1FE-991D-053F-A770-A98F0D6DE3B3}"/>
              </a:ext>
            </a:extLst>
          </p:cNvPr>
          <p:cNvSpPr/>
          <p:nvPr/>
        </p:nvSpPr>
        <p:spPr>
          <a:xfrm>
            <a:off x="0" y="3048000"/>
            <a:ext cx="12192000" cy="12700"/>
          </a:xfrm>
          <a:prstGeom prst="rect">
            <a:avLst/>
          </a:prstGeom>
          <a:solidFill>
            <a:srgbClr val="1C22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38C353-8475-AA30-6CEA-936907B807DD}"/>
              </a:ext>
            </a:extLst>
          </p:cNvPr>
          <p:cNvSpPr/>
          <p:nvPr/>
        </p:nvSpPr>
        <p:spPr>
          <a:xfrm>
            <a:off x="0" y="3810000"/>
            <a:ext cx="12192000" cy="12700"/>
          </a:xfrm>
          <a:prstGeom prst="rect">
            <a:avLst/>
          </a:prstGeom>
          <a:solidFill>
            <a:srgbClr val="1C22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BF29DFA-C73E-8411-14D7-A682ED5E4CAD}"/>
              </a:ext>
            </a:extLst>
          </p:cNvPr>
          <p:cNvSpPr/>
          <p:nvPr/>
        </p:nvSpPr>
        <p:spPr>
          <a:xfrm>
            <a:off x="0" y="4572000"/>
            <a:ext cx="12192000" cy="12700"/>
          </a:xfrm>
          <a:prstGeom prst="rect">
            <a:avLst/>
          </a:prstGeom>
          <a:solidFill>
            <a:srgbClr val="1C22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663107A-9B83-3A02-1EFD-028590290864}"/>
              </a:ext>
            </a:extLst>
          </p:cNvPr>
          <p:cNvSpPr/>
          <p:nvPr/>
        </p:nvSpPr>
        <p:spPr>
          <a:xfrm>
            <a:off x="0" y="5334000"/>
            <a:ext cx="12192000" cy="12700"/>
          </a:xfrm>
          <a:prstGeom prst="rect">
            <a:avLst/>
          </a:prstGeom>
          <a:solidFill>
            <a:srgbClr val="1C22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14EE07E-4673-3E28-8539-EA4A789CEFD6}"/>
              </a:ext>
            </a:extLst>
          </p:cNvPr>
          <p:cNvSpPr/>
          <p:nvPr/>
        </p:nvSpPr>
        <p:spPr>
          <a:xfrm>
            <a:off x="0" y="6096000"/>
            <a:ext cx="12192000" cy="12700"/>
          </a:xfrm>
          <a:prstGeom prst="rect">
            <a:avLst/>
          </a:prstGeom>
          <a:solidFill>
            <a:srgbClr val="1C22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56B667-0776-0D82-4217-490700A63D73}"/>
              </a:ext>
            </a:extLst>
          </p:cNvPr>
          <p:cNvSpPr txBox="1"/>
          <p:nvPr/>
        </p:nvSpPr>
        <p:spPr>
          <a:xfrm>
            <a:off x="1778000" y="1879600"/>
            <a:ext cx="8636000" cy="707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4600" b="1">
                <a:solidFill>
                  <a:srgbClr val="E6EDF3"/>
                </a:solidFill>
                <a:latin typeface="Segoe UI" panose="020B0502040204020203" pitchFamily="34" charset="0"/>
              </a:rPr>
              <a:t>Ready to Build Decks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A55F5A-DE92-B118-A3B3-5BDF228DD81A}"/>
              </a:ext>
            </a:extLst>
          </p:cNvPr>
          <p:cNvSpPr txBox="1"/>
          <p:nvPr/>
        </p:nvSpPr>
        <p:spPr>
          <a:xfrm>
            <a:off x="1778000" y="2997200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000">
                <a:solidFill>
                  <a:srgbClr val="58A6FF"/>
                </a:solidFill>
                <a:latin typeface="Segoe UI" panose="020B0502040204020203" pitchFamily="34" charset="0"/>
              </a:rPr>
              <a:t>Open agent mode and describe your presentation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825143E-F855-1AE7-B0BE-3D6DCBC99C0E}"/>
              </a:ext>
            </a:extLst>
          </p:cNvPr>
          <p:cNvSpPr/>
          <p:nvPr/>
        </p:nvSpPr>
        <p:spPr>
          <a:xfrm>
            <a:off x="4572000" y="3759200"/>
            <a:ext cx="3048000" cy="25400"/>
          </a:xfrm>
          <a:prstGeom prst="rect">
            <a:avLst/>
          </a:prstGeom>
          <a:solidFill>
            <a:srgbClr val="3036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21FE91-04AD-906A-8290-FF0B2F251F42}"/>
              </a:ext>
            </a:extLst>
          </p:cNvPr>
          <p:cNvSpPr txBox="1"/>
          <p:nvPr/>
        </p:nvSpPr>
        <p:spPr>
          <a:xfrm>
            <a:off x="1778000" y="3962400"/>
            <a:ext cx="8636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>
                <a:solidFill>
                  <a:srgbClr val="89929B"/>
                </a:solidFill>
                <a:latin typeface="Segoe UI" panose="020B0502040204020203" pitchFamily="34" charset="0"/>
              </a:rPr>
              <a:t>Python or PowerShell COM - the skill handles both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171C795-38FF-6717-0A38-D188E7E2BB1E}"/>
              </a:ext>
            </a:extLst>
          </p:cNvPr>
          <p:cNvSpPr/>
          <p:nvPr/>
        </p:nvSpPr>
        <p:spPr>
          <a:xfrm>
            <a:off x="3937000" y="4927600"/>
            <a:ext cx="4318000" cy="762000"/>
          </a:xfrm>
          <a:prstGeom prst="rect">
            <a:avLst/>
          </a:prstGeom>
          <a:solidFill>
            <a:srgbClr val="161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ACD87A5-8E3F-9AAA-76C0-4D0CA0779BF7}"/>
              </a:ext>
            </a:extLst>
          </p:cNvPr>
          <p:cNvSpPr/>
          <p:nvPr/>
        </p:nvSpPr>
        <p:spPr>
          <a:xfrm>
            <a:off x="3937000" y="4927600"/>
            <a:ext cx="4318000" cy="50800"/>
          </a:xfrm>
          <a:prstGeom prst="rect">
            <a:avLst/>
          </a:prstGeom>
          <a:solidFill>
            <a:srgbClr val="58A6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523779-3B1B-2D90-98DA-3D150236536F}"/>
              </a:ext>
            </a:extLst>
          </p:cNvPr>
          <p:cNvSpPr txBox="1"/>
          <p:nvPr/>
        </p:nvSpPr>
        <p:spPr>
          <a:xfrm>
            <a:off x="3937000" y="5156200"/>
            <a:ext cx="4318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>
                <a:solidFill>
                  <a:srgbClr val="58A6FF"/>
                </a:solidFill>
                <a:latin typeface="Segoe UI" panose="020B0502040204020203" pitchFamily="34" charset="0"/>
              </a:rPr>
              <a:t>powerpoint-creator skill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1D3553-298D-577C-DABE-9E9719B31295}"/>
              </a:ext>
            </a:extLst>
          </p:cNvPr>
          <p:cNvSpPr txBox="1"/>
          <p:nvPr/>
        </p:nvSpPr>
        <p:spPr>
          <a:xfrm>
            <a:off x="3937000" y="5461000"/>
            <a:ext cx="431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>
                <a:solidFill>
                  <a:srgbClr val="89929B"/>
                </a:solidFill>
                <a:latin typeface="Segoe UI" panose="020B0502040204020203" pitchFamily="34" charset="0"/>
              </a:rPr>
              <a:t>~\.agents\skills\powerpoint-creator\</a:t>
            </a:r>
          </a:p>
        </p:txBody>
      </p:sp>
    </p:spTree>
    <p:extLst>
      <p:ext uri="{BB962C8B-B14F-4D97-AF65-F5344CB8AC3E}">
        <p14:creationId xmlns:p14="http://schemas.microsoft.com/office/powerpoint/2010/main" val="1540946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485</Words>
  <Application>Microsoft Office PowerPoint</Application>
  <PresentationFormat>Custom</PresentationFormat>
  <Paragraphs>77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M Wolford</dc:creator>
  <cp:lastModifiedBy>Christopher M Wolford</cp:lastModifiedBy>
  <cp:revision>1</cp:revision>
  <dcterms:created xsi:type="dcterms:W3CDTF">2026-04-28T20:29:48Z</dcterms:created>
  <dcterms:modified xsi:type="dcterms:W3CDTF">2026-04-28T20:29:48Z</dcterms:modified>
</cp:coreProperties>
</file>